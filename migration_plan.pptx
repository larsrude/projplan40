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Migration Plan - Executive Summary</a:t>
            </a:r>
          </a:p>
          <a:p>
            <a:r>
              <a:rPr sz="1200"/>
              <a:t>Level 1: one line per activity, key milestones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05840"/>
          <a:ext cx="8412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1782"/>
                <a:gridCol w="1201782"/>
                <a:gridCol w="1201782"/>
                <a:gridCol w="1201782"/>
                <a:gridCol w="1201782"/>
                <a:gridCol w="1201782"/>
                <a:gridCol w="1201788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Dev 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Tests 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Ready for 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Go-live prep 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Total weeks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Complex1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28-Feb-25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30-May-25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04-Jul-25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25-Jul-25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Complex2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28-Feb-25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30-May-25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04-Jul-25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25-Jul-25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Simple1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31-Jan-25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21-Feb-25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14-Mar-25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28-Mar-25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Simple2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31-Jan-25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21-Feb-25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14-Mar-25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28-Mar-25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Simple3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31-Jan-25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21-Feb-25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14-Mar-25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28-Mar-25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Simple4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31-Jan-25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14-Mar-25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04-Apr-25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18-Apr-25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Complex1 (complex) - Detailed Plan</a:t>
            </a:r>
          </a:p>
          <a:p>
            <a:r>
              <a:rPr sz="1200"/>
              <a:t>Level 2: phases and environment bookings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914400"/>
            <a:ext cx="6217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06-Jan-25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7863389" y="9144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25-Jul-25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Development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097280"/>
            <a:ext cx="1733125" cy="16459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53312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SIT large @ ENV-A</a:t>
            </a:r>
          </a:p>
        </p:txBody>
      </p:sp>
      <p:sp>
        <p:nvSpPr>
          <p:cNvPr id="9" name="Rectangle 8"/>
          <p:cNvSpPr/>
          <p:nvPr/>
        </p:nvSpPr>
        <p:spPr>
          <a:xfrm>
            <a:off x="3909848" y="1353312"/>
            <a:ext cx="661070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9344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SIT large @ ENV-A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53081" y="1609344"/>
            <a:ext cx="661071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65376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SIT large @ ENV-A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96314" y="1865376"/>
            <a:ext cx="661071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121408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E2E medium @ ENV-A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39547" y="2121408"/>
            <a:ext cx="446660" cy="1645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377440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E2E medium @ ENV-A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8369" y="2377440"/>
            <a:ext cx="446660" cy="1645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633472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Inflight order test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35931" y="2633472"/>
            <a:ext cx="936742" cy="1645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889504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Application test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35931" y="2889504"/>
            <a:ext cx="1151153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145536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Go-live preparation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69246" y="3145536"/>
            <a:ext cx="661071" cy="1645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913632"/>
            <a:ext cx="8412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/>
              <a:t>Ready for migration: 04-Jul-25    Go-live preparation complete: 25-Jul-25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Complex2 (complex) - Detailed Plan</a:t>
            </a:r>
          </a:p>
          <a:p>
            <a:r>
              <a:rPr sz="1200"/>
              <a:t>Level 2: phases and environment bookings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914400"/>
            <a:ext cx="6217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06-Jan-25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7863389" y="9144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25-Jul-25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Development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097280"/>
            <a:ext cx="1733125" cy="16459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53312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SIT large @ ENV-B</a:t>
            </a:r>
          </a:p>
        </p:txBody>
      </p:sp>
      <p:sp>
        <p:nvSpPr>
          <p:cNvPr id="9" name="Rectangle 8"/>
          <p:cNvSpPr/>
          <p:nvPr/>
        </p:nvSpPr>
        <p:spPr>
          <a:xfrm>
            <a:off x="3909848" y="1353312"/>
            <a:ext cx="661070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9344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SIT large @ ENV-B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53081" y="1609344"/>
            <a:ext cx="661071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65376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SIT large @ ENV-B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96314" y="1865376"/>
            <a:ext cx="661071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121408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E2E medium @ ENV-B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39547" y="2121408"/>
            <a:ext cx="446660" cy="1645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377440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E2E medium @ ENV-B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8369" y="2377440"/>
            <a:ext cx="446660" cy="1645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633472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Inflight order test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35931" y="2633472"/>
            <a:ext cx="936742" cy="1645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889504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Application test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35931" y="2889504"/>
            <a:ext cx="1151153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145536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Go-live preparation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69246" y="3145536"/>
            <a:ext cx="661071" cy="1645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913632"/>
            <a:ext cx="8412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/>
              <a:t>Ready for migration: 04-Jul-25    Go-live preparation complete: 25-Jul-25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Simple1 (simple) - Detailed Plan</a:t>
            </a:r>
          </a:p>
          <a:p>
            <a:r>
              <a:rPr sz="1200"/>
              <a:t>Level 2: phases and environment bookings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914400"/>
            <a:ext cx="6217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06-Jan-25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7733211" y="9144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28-Mar-25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Development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097280"/>
            <a:ext cx="1960299" cy="16459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53312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SIT small @ ENV-A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7200" y="1353312"/>
            <a:ext cx="405819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9344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SIT small @ ENV-A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85360" y="1609344"/>
            <a:ext cx="405819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65376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E2E small @ ENV-A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1865376"/>
            <a:ext cx="405819" cy="1645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121408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Inflight order test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73634" y="2121408"/>
            <a:ext cx="1072025" cy="1645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377440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Application test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73634" y="2377440"/>
            <a:ext cx="1590185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633472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Go-live preparation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76160" y="2633472"/>
            <a:ext cx="923979" cy="1645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401568"/>
            <a:ext cx="8412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/>
              <a:t>Ready for migration: 14-Mar-25    Go-live preparation complete: 28-Mar-25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Simple2 (simple) - Detailed Plan</a:t>
            </a:r>
          </a:p>
          <a:p>
            <a:r>
              <a:rPr sz="1200"/>
              <a:t>Level 2: phases and environment bookings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914400"/>
            <a:ext cx="6217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06-Jan-25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7733211" y="9144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28-Mar-25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Development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097280"/>
            <a:ext cx="1960299" cy="16459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53312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SIT small @ ENV-C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7200" y="1353312"/>
            <a:ext cx="405819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9344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SIT small @ ENV-C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85360" y="1609344"/>
            <a:ext cx="405819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65376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E2E small @ ENV-C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1865376"/>
            <a:ext cx="405819" cy="1645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121408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Inflight order test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73634" y="2121408"/>
            <a:ext cx="1072025" cy="1645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377440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Application test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73634" y="2377440"/>
            <a:ext cx="1590185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633472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Go-live preparation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76160" y="2633472"/>
            <a:ext cx="923979" cy="1645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401568"/>
            <a:ext cx="8412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/>
              <a:t>Ready for migration: 14-Mar-25    Go-live preparation complete: 28-Mar-25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Simple3 (simple) - Detailed Plan</a:t>
            </a:r>
          </a:p>
          <a:p>
            <a:r>
              <a:rPr sz="1200"/>
              <a:t>Level 2: phases and environment bookings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914400"/>
            <a:ext cx="6217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06-Jan-25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7733211" y="9144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28-Mar-25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Development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097280"/>
            <a:ext cx="1960299" cy="16459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53312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SIT small @ ENV-D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7200" y="1353312"/>
            <a:ext cx="405819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9344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SIT small @ ENV-D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85360" y="1609344"/>
            <a:ext cx="405819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65376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E2E small @ ENV-D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1865376"/>
            <a:ext cx="405819" cy="1645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121408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Inflight order test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73634" y="2121408"/>
            <a:ext cx="1072025" cy="1645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377440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Application test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73634" y="2377440"/>
            <a:ext cx="1590185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633472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Go-live preparation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76160" y="2633472"/>
            <a:ext cx="923979" cy="1645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401568"/>
            <a:ext cx="8412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/>
              <a:t>Ready for migration: 14-Mar-25    Go-live preparation complete: 28-Mar-25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Simple4 (simple) - Detailed Plan</a:t>
            </a:r>
          </a:p>
          <a:p>
            <a:r>
              <a:rPr sz="1200"/>
              <a:t>Level 2: phases and environment bookings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914400"/>
            <a:ext cx="6217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06-Jan-25</a:t>
            </a:r>
          </a:p>
          <a:p/>
        </p:txBody>
      </p:sp>
      <p:sp>
        <p:nvSpPr>
          <p:cNvPr id="5" name="TextBox 4"/>
          <p:cNvSpPr txBox="1"/>
          <p:nvPr/>
        </p:nvSpPr>
        <p:spPr>
          <a:xfrm>
            <a:off x="7777625" y="9144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18-Apr-25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Development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097280"/>
            <a:ext cx="1590185" cy="16459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53312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SIT small @ ENV-A</a:t>
            </a:r>
          </a:p>
        </p:txBody>
      </p:sp>
      <p:sp>
        <p:nvSpPr>
          <p:cNvPr id="9" name="Rectangle 8"/>
          <p:cNvSpPr/>
          <p:nvPr/>
        </p:nvSpPr>
        <p:spPr>
          <a:xfrm>
            <a:off x="5096256" y="1353312"/>
            <a:ext cx="346601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9344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SIT small @ ENV-C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10784" y="1609344"/>
            <a:ext cx="346601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65376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E2E small @ ENV-C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25312" y="1865376"/>
            <a:ext cx="346601" cy="1645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121408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Inflight order test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1403" y="2121408"/>
            <a:ext cx="879566" cy="1645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377440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Application test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21403" y="2377440"/>
            <a:ext cx="1294094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633472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/>
              <a:t>Go-live preparation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3424" y="2633472"/>
            <a:ext cx="761129" cy="1645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401568"/>
            <a:ext cx="8412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/>
              <a:t>Ready for migration: 04-Apr-25    Go-live preparation complete: 18-Apr-25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Environment Utilization</a:t>
            </a:r>
          </a:p>
          <a:p>
            <a:r>
              <a:rPr sz="1200"/>
              <a:t>Level 3: days booked per environment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05840"/>
          <a:ext cx="84124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Available from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Available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Booked days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ENV-A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06-Jan-25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31-Dec-25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85 (Complex1:65, Simple1:15, Simple4:5)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ENV-B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03-Mar-25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31-Dec-25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65 (Complex2:65)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ENV-C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06-Jan-25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30-Jun-25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25 (Simple2:15, Simple4:10)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ENV-D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03-Feb-25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30-Sep-25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15 (Simple3:15)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Planning Assumptions</a:t>
            </a:r>
          </a:p>
          <a:p>
            <a:r>
              <a:rPr sz="1200"/>
              <a:t>Level 3: all parameter values used by the plan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05840"/>
          <a:ext cx="8412480" cy="1408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4720"/>
                <a:gridCol w="934720"/>
                <a:gridCol w="934720"/>
                <a:gridCol w="934720"/>
                <a:gridCol w="934720"/>
                <a:gridCol w="934720"/>
                <a:gridCol w="934720"/>
                <a:gridCol w="934720"/>
                <a:gridCol w="934720"/>
              </a:tblGrid>
              <a:tr h="201168"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Dev (wk)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SIT runs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SIT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E2E runs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E2E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App test (wk)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Inflight (wk)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Simple1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Simple2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Simple3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Simple4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Complex1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Complex2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4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2688336"/>
          <a:ext cx="41148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201168"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Test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SIT days/run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E2E days/run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10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15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xlarge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20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63440" y="2688336"/>
          <a:ext cx="41148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</a:tblGrid>
              <a:tr h="201168"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Available from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Available to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ENV-A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06-Jan-25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31-Dec-25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ENV-B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03-Mar-25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31-Dec-25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ENV-C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06-Jan-25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30-Jun-25</a:t>
                      </a:r>
                    </a:p>
                  </a:txBody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ENV-D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03-Feb-25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/>
                      </a:pPr>
                      <a:r>
                        <a:t>30-Sep-25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3968496"/>
            <a:ext cx="8412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Plan starts: 06-Jan-25   |   Working days per week: 5</a:t>
            </a:r>
          </a:p>
          <a:p>
            <a:r>
              <a:rPr sz="900"/>
              <a:t>Per activity: Development -&gt; SIT runs -&gt; E2E runs -&gt; Application test -&gt; Go-live preparation are sequential.</a:t>
            </a:r>
          </a:p>
          <a:p>
            <a:r>
              <a:rPr sz="900"/>
              <a:t>Inflight order test runs in parallel with Application test (starts same day).</a:t>
            </a:r>
          </a:p>
          <a:p>
            <a:r>
              <a:rPr sz="900"/>
              <a:t>SIT and E2E runs book a capable, available environment for consecutive working days;</a:t>
            </a:r>
          </a:p>
          <a:p>
            <a:r>
              <a:rPr sz="900"/>
              <a:t>activities are scheduled in priority order: Complex1, Complex2, Simple1, Simple2, Simple3, Simple4.</a:t>
            </a:r>
          </a:p>
          <a:p>
            <a:r>
              <a:rPr sz="900"/>
              <a:t>Go-live preparation starts after readiness (max of application and inflight order tests).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